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4"/>
  </p:notesMasterIdLst>
  <p:handoutMasterIdLst>
    <p:handoutMasterId r:id="rId15"/>
  </p:handoutMasterIdLst>
  <p:sldIdLst>
    <p:sldId id="260" r:id="rId2"/>
    <p:sldId id="261" r:id="rId3"/>
    <p:sldId id="270" r:id="rId4"/>
    <p:sldId id="271" r:id="rId5"/>
    <p:sldId id="267" r:id="rId6"/>
    <p:sldId id="273" r:id="rId7"/>
    <p:sldId id="274" r:id="rId8"/>
    <p:sldId id="268" r:id="rId9"/>
    <p:sldId id="277" r:id="rId10"/>
    <p:sldId id="275" r:id="rId11"/>
    <p:sldId id="276" r:id="rId12"/>
    <p:sldId id="266" r:id="rId1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A39A"/>
    <a:srgbClr val="F1BE48"/>
    <a:srgbClr val="6E6259"/>
    <a:srgbClr val="010000"/>
    <a:srgbClr val="C8102E"/>
    <a:srgbClr val="7A6E67"/>
    <a:srgbClr val="F2BF49"/>
    <a:srgbClr val="ADA07A"/>
    <a:srgbClr val="CE11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378" autoAdjust="0"/>
  </p:normalViewPr>
  <p:slideViewPr>
    <p:cSldViewPr>
      <p:cViewPr varScale="1">
        <p:scale>
          <a:sx n="81" d="100"/>
          <a:sy n="81" d="100"/>
        </p:scale>
        <p:origin x="1944" y="5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ig orman" userId="2859a00d94afa278" providerId="LiveId" clId="{25AF4E53-202B-4C7D-8FA8-147F0151135F}"/>
    <pc:docChg chg="custSel addSld delSld modSld">
      <pc:chgData name="Craig orman" userId="2859a00d94afa278" providerId="LiveId" clId="{25AF4E53-202B-4C7D-8FA8-147F0151135F}" dt="2025-10-06T16:37:15.510" v="312" actId="20577"/>
      <pc:docMkLst>
        <pc:docMk/>
      </pc:docMkLst>
      <pc:sldChg chg="addSp delSp modSp del mod">
        <pc:chgData name="Craig orman" userId="2859a00d94afa278" providerId="LiveId" clId="{25AF4E53-202B-4C7D-8FA8-147F0151135F}" dt="2025-10-06T16:21:12.172" v="12" actId="47"/>
        <pc:sldMkLst>
          <pc:docMk/>
          <pc:sldMk cId="1037345221" sldId="269"/>
        </pc:sldMkLst>
        <pc:spChg chg="add del mod">
          <ac:chgData name="Craig orman" userId="2859a00d94afa278" providerId="LiveId" clId="{25AF4E53-202B-4C7D-8FA8-147F0151135F}" dt="2025-10-06T16:21:01.072" v="8" actId="478"/>
          <ac:spMkLst>
            <pc:docMk/>
            <pc:sldMk cId="1037345221" sldId="269"/>
            <ac:spMk id="5" creationId="{B7470007-1405-EF04-0CF4-C409D4300795}"/>
          </ac:spMkLst>
        </pc:spChg>
        <pc:picChg chg="add del mod">
          <ac:chgData name="Craig orman" userId="2859a00d94afa278" providerId="LiveId" clId="{25AF4E53-202B-4C7D-8FA8-147F0151135F}" dt="2025-10-06T16:21:02.237" v="9" actId="478"/>
          <ac:picMkLst>
            <pc:docMk/>
            <pc:sldMk cId="1037345221" sldId="269"/>
            <ac:picMk id="4" creationId="{8FEEC427-38B0-6C25-883A-705FD9F1DE9E}"/>
          </ac:picMkLst>
        </pc:picChg>
        <pc:cxnChg chg="add del mod">
          <ac:chgData name="Craig orman" userId="2859a00d94afa278" providerId="LiveId" clId="{25AF4E53-202B-4C7D-8FA8-147F0151135F}" dt="2025-10-06T16:21:01.072" v="8" actId="478"/>
          <ac:cxnSpMkLst>
            <pc:docMk/>
            <pc:sldMk cId="1037345221" sldId="269"/>
            <ac:cxnSpMk id="6" creationId="{19DBD5F5-A890-D507-0C26-9AC45DA22E15}"/>
          </ac:cxnSpMkLst>
        </pc:cxnChg>
      </pc:sldChg>
      <pc:sldChg chg="addSp delSp modSp add mod modNotesTx">
        <pc:chgData name="Craig orman" userId="2859a00d94afa278" providerId="LiveId" clId="{25AF4E53-202B-4C7D-8FA8-147F0151135F}" dt="2025-10-06T16:37:15.510" v="312" actId="20577"/>
        <pc:sldMkLst>
          <pc:docMk/>
          <pc:sldMk cId="4090542154" sldId="270"/>
        </pc:sldMkLst>
        <pc:spChg chg="del">
          <ac:chgData name="Craig orman" userId="2859a00d94afa278" providerId="LiveId" clId="{25AF4E53-202B-4C7D-8FA8-147F0151135F}" dt="2025-10-06T16:21:10.216" v="11" actId="478"/>
          <ac:spMkLst>
            <pc:docMk/>
            <pc:sldMk cId="4090542154" sldId="270"/>
            <ac:spMk id="2" creationId="{402F18BA-E0F6-8392-A727-C4FD7DE9AE59}"/>
          </ac:spMkLst>
        </pc:spChg>
        <pc:spChg chg="add del mod">
          <ac:chgData name="Craig orman" userId="2859a00d94afa278" providerId="LiveId" clId="{25AF4E53-202B-4C7D-8FA8-147F0151135F}" dt="2025-10-06T16:24:38.550" v="40" actId="478"/>
          <ac:spMkLst>
            <pc:docMk/>
            <pc:sldMk cId="4090542154" sldId="270"/>
            <ac:spMk id="7" creationId="{3D60E77D-3D19-C5CF-5AC0-59AC6F17DE1C}"/>
          </ac:spMkLst>
        </pc:spChg>
        <pc:picChg chg="add del mod">
          <ac:chgData name="Craig orman" userId="2859a00d94afa278" providerId="LiveId" clId="{25AF4E53-202B-4C7D-8FA8-147F0151135F}" dt="2025-10-06T16:22:31.900" v="34" actId="478"/>
          <ac:picMkLst>
            <pc:docMk/>
            <pc:sldMk cId="4090542154" sldId="270"/>
            <ac:picMk id="6" creationId="{B5EA72C8-3360-9730-DBE2-F812D9E8908F}"/>
          </ac:picMkLst>
        </pc:picChg>
        <pc:picChg chg="add mod">
          <ac:chgData name="Craig orman" userId="2859a00d94afa278" providerId="LiveId" clId="{25AF4E53-202B-4C7D-8FA8-147F0151135F}" dt="2025-10-06T16:25:09.039" v="50" actId="14100"/>
          <ac:picMkLst>
            <pc:docMk/>
            <pc:sldMk cId="4090542154" sldId="270"/>
            <ac:picMk id="9" creationId="{4304D1F6-BA2E-E5D9-584F-07444BA2E612}"/>
          </ac:picMkLst>
        </pc:picChg>
        <pc:cxnChg chg="del">
          <ac:chgData name="Craig orman" userId="2859a00d94afa278" providerId="LiveId" clId="{25AF4E53-202B-4C7D-8FA8-147F0151135F}" dt="2025-10-06T16:25:04.948" v="48" actId="478"/>
          <ac:cxnSpMkLst>
            <pc:docMk/>
            <pc:sldMk cId="4090542154" sldId="270"/>
            <ac:cxnSpMk id="4" creationId="{5A103AAA-43E1-6EEB-A94C-5041428D550E}"/>
          </ac:cxnSpMkLst>
        </pc:cxnChg>
      </pc:sldChg>
      <pc:sldChg chg="add del">
        <pc:chgData name="Craig orman" userId="2859a00d94afa278" providerId="LiveId" clId="{25AF4E53-202B-4C7D-8FA8-147F0151135F}" dt="2025-10-06T16:21:14.477" v="14"/>
        <pc:sldMkLst>
          <pc:docMk/>
          <pc:sldMk cId="3241512034" sldId="27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55A0C9-E830-1241-BEA3-6925DA004ECF}" type="datetimeFigureOut">
              <a:rPr lang="en-US" smtClean="0"/>
              <a:pPr/>
              <a:t>10/9/2025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984522-76EF-EF4D-8870-07F3436BA4E0}" type="slidenum">
              <a:rPr lang="en-US" smtClean="0"/>
              <a:pPr/>
              <a:t>‹#›</a:t>
            </a:fld>
            <a:endParaRPr lang="en-US"/>
          </a:p>
        </p:txBody>
      </p:sp>
    </p:spTree>
    <p:extLst>
      <p:ext uri="{BB962C8B-B14F-4D97-AF65-F5344CB8AC3E}">
        <p14:creationId xmlns:p14="http://schemas.microsoft.com/office/powerpoint/2010/main" val="12009024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845082-6AF3-024B-A14D-C5AD8123919E}" type="datetimeFigureOut">
              <a:rPr lang="en-US" smtClean="0"/>
              <a:pPr/>
              <a:t>10/9/2025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A6D18E-8B09-B24B-9169-4FC527B8D84F}" type="slidenum">
              <a:rPr lang="en-US" smtClean="0"/>
              <a:pPr/>
              <a:t>‹#›</a:t>
            </a:fld>
            <a:endParaRPr lang="en-US"/>
          </a:p>
        </p:txBody>
      </p:sp>
    </p:spTree>
    <p:extLst>
      <p:ext uri="{BB962C8B-B14F-4D97-AF65-F5344CB8AC3E}">
        <p14:creationId xmlns:p14="http://schemas.microsoft.com/office/powerpoint/2010/main" val="24577925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memory models tend to be between geometric and exponential decays</a:t>
            </a:r>
          </a:p>
          <a:p>
            <a:r>
              <a:rPr lang="en-US" dirty="0"/>
              <a:t>Long memory models tend towards being more than exponential and less than hyperbolic</a:t>
            </a:r>
          </a:p>
          <a:p>
            <a:r>
              <a:rPr lang="en-US" dirty="0"/>
              <a:t>Models with more than hyperbolic decay, and likely funky </a:t>
            </a:r>
            <a:r>
              <a:rPr lang="en-US" dirty="0" err="1"/>
              <a:t>funky</a:t>
            </a:r>
            <a:endParaRPr lang="en-US" dirty="0"/>
          </a:p>
        </p:txBody>
      </p:sp>
      <p:sp>
        <p:nvSpPr>
          <p:cNvPr id="4" name="Slide Number Placeholder 3"/>
          <p:cNvSpPr>
            <a:spLocks noGrp="1"/>
          </p:cNvSpPr>
          <p:nvPr>
            <p:ph type="sldNum" sz="quarter" idx="5"/>
          </p:nvPr>
        </p:nvSpPr>
        <p:spPr/>
        <p:txBody>
          <a:bodyPr/>
          <a:lstStyle/>
          <a:p>
            <a:fld id="{24A6D18E-8B09-B24B-9169-4FC527B8D84F}" type="slidenum">
              <a:rPr lang="en-US" smtClean="0"/>
              <a:pPr/>
              <a:t>3</a:t>
            </a:fld>
            <a:endParaRPr lang="en-US"/>
          </a:p>
        </p:txBody>
      </p:sp>
    </p:spTree>
    <p:extLst>
      <p:ext uri="{BB962C8B-B14F-4D97-AF65-F5344CB8AC3E}">
        <p14:creationId xmlns:p14="http://schemas.microsoft.com/office/powerpoint/2010/main" val="2872841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6048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Text Box 11"/>
          <p:cNvSpPr txBox="1">
            <a:spLocks noChangeArrowheads="1"/>
          </p:cNvSpPr>
          <p:nvPr/>
        </p:nvSpPr>
        <p:spPr bwMode="auto">
          <a:xfrm>
            <a:off x="212725" y="3489325"/>
            <a:ext cx="184150" cy="457200"/>
          </a:xfrm>
          <a:prstGeom prst="rect">
            <a:avLst/>
          </a:prstGeom>
          <a:noFill/>
          <a:ln w="9525">
            <a:noFill/>
            <a:miter lim="800000"/>
            <a:headEnd/>
            <a:tailEnd/>
          </a:ln>
          <a:effectLst/>
        </p:spPr>
        <p:txBody>
          <a:bodyPr wrap="none">
            <a:prstTxWarp prst="textNoShape">
              <a:avLst/>
            </a:prstTxWarp>
            <a:spAutoFit/>
          </a:bodyPr>
          <a:lstStyle/>
          <a:p>
            <a:endParaRPr lang="en-US"/>
          </a:p>
        </p:txBody>
      </p:sp>
      <p:sp>
        <p:nvSpPr>
          <p:cNvPr id="11" name="Rectangle 8"/>
          <p:cNvSpPr>
            <a:spLocks noChangeArrowheads="1"/>
          </p:cNvSpPr>
          <p:nvPr userDrawn="1"/>
        </p:nvSpPr>
        <p:spPr bwMode="auto">
          <a:xfrm>
            <a:off x="0" y="6348431"/>
            <a:ext cx="9144000" cy="509569"/>
          </a:xfrm>
          <a:prstGeom prst="rect">
            <a:avLst/>
          </a:prstGeom>
          <a:solidFill>
            <a:srgbClr val="C8102E"/>
          </a:solidFill>
          <a:ln w="9525">
            <a:noFill/>
            <a:miter lim="800000"/>
            <a:headEnd/>
            <a:tailEnd/>
          </a:ln>
          <a:effectLst/>
        </p:spPr>
        <p:txBody>
          <a:bodyPr wrap="none" anchor="ctr">
            <a:prstTxWarp prst="textNoShape">
              <a:avLst/>
            </a:prstTxWarp>
          </a:bodyPr>
          <a:lstStyle/>
          <a:p>
            <a:endParaRPr lang="en-US"/>
          </a:p>
        </p:txBody>
      </p:sp>
      <p:pic>
        <p:nvPicPr>
          <p:cNvPr id="13" name="Picture 12" descr="ISU LEFT white.eps"/>
          <p:cNvPicPr>
            <a:picLocks noChangeAspect="1"/>
          </p:cNvPicPr>
          <p:nvPr userDrawn="1"/>
        </p:nvPicPr>
        <p:blipFill>
          <a:blip r:embed="rId4"/>
          <a:srcRect b="38235"/>
          <a:stretch>
            <a:fillRect/>
          </a:stretch>
        </p:blipFill>
        <p:spPr bwMode="auto">
          <a:xfrm>
            <a:off x="381000" y="6503215"/>
            <a:ext cx="2396490" cy="197359"/>
          </a:xfrm>
          <a:prstGeom prst="rect">
            <a:avLst/>
          </a:prstGeom>
          <a:noFill/>
          <a:ln w="9525">
            <a:noFill/>
            <a:miter lim="800000"/>
            <a:headEnd/>
            <a:tailEnd/>
          </a:ln>
        </p:spPr>
      </p:pic>
      <p:sp>
        <p:nvSpPr>
          <p:cNvPr id="15" name="Text Placeholder 4"/>
          <p:cNvSpPr txBox="1">
            <a:spLocks/>
          </p:cNvSpPr>
          <p:nvPr userDrawn="1"/>
        </p:nvSpPr>
        <p:spPr>
          <a:xfrm>
            <a:off x="4163705" y="6470650"/>
            <a:ext cx="4191000" cy="285750"/>
          </a:xfrm>
          <a:prstGeom prst="rect">
            <a:avLst/>
          </a:prstGeom>
        </p:spPr>
        <p:txBody>
          <a:bodyPr/>
          <a:lstStyle>
            <a:lvl1pPr marL="0" indent="0" algn="r" rtl="0" fontAlgn="base">
              <a:spcBef>
                <a:spcPct val="20000"/>
              </a:spcBef>
              <a:spcAft>
                <a:spcPct val="0"/>
              </a:spcAft>
              <a:buClr>
                <a:srgbClr val="CE1126"/>
              </a:buClr>
              <a:buSzPct val="80000"/>
              <a:buFont typeface="Times" charset="0"/>
              <a:buNone/>
              <a:defRPr sz="1600" b="1" i="0" baseline="0">
                <a:solidFill>
                  <a:schemeClr val="bg1"/>
                </a:solidFill>
                <a:latin typeface="Univers 65" charset="0"/>
                <a:ea typeface="Univers 65" charset="0"/>
                <a:cs typeface="Univers 65" charset="0"/>
              </a:defRPr>
            </a:lvl1pPr>
            <a:lvl2pPr marL="742950" indent="-28575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2pPr>
            <a:lvl3pPr marL="11430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3pPr>
            <a:lvl4pPr marL="16002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4pPr>
            <a:lvl5pPr marL="20574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5pPr>
            <a:lvl6pPr marL="25146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6pPr>
            <a:lvl7pPr marL="29718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7pPr>
            <a:lvl8pPr marL="34290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8pPr>
            <a:lvl9pPr marL="38862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9pPr>
          </a:lstStyle>
          <a:p>
            <a:pPr eaLnBrk="1" hangingPunct="1"/>
            <a:r>
              <a:rPr lang="en-US" sz="1200" kern="0" dirty="0">
                <a:latin typeface="Univers 75 Black" charset="0"/>
                <a:ea typeface="Univers 75 Black" charset="0"/>
                <a:cs typeface="Univers 75 Black" charset="0"/>
              </a:rPr>
              <a:t>Department of Statistics</a:t>
            </a:r>
          </a:p>
        </p:txBody>
      </p:sp>
      <p:cxnSp>
        <p:nvCxnSpPr>
          <p:cNvPr id="16" name="Straight Connector 15"/>
          <p:cNvCxnSpPr/>
          <p:nvPr userDrawn="1"/>
        </p:nvCxnSpPr>
        <p:spPr bwMode="auto">
          <a:xfrm>
            <a:off x="8458200" y="6531769"/>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7" name="Slide Number Placeholder 5"/>
          <p:cNvSpPr txBox="1">
            <a:spLocks/>
          </p:cNvSpPr>
          <p:nvPr userDrawn="1"/>
        </p:nvSpPr>
        <p:spPr>
          <a:xfrm>
            <a:off x="8534400" y="6470650"/>
            <a:ext cx="533400" cy="274637"/>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a:lstStyle>
          <a:p>
            <a:pPr algn="l"/>
            <a:fld id="{60FAC648-EA3A-9C41-B47D-FEC33027B8CE}" type="slidenum">
              <a:rPr lang="en-US" smtClean="0">
                <a:solidFill>
                  <a:schemeClr val="bg1"/>
                </a:solidFill>
              </a:rPr>
              <a:pPr algn="l"/>
              <a:t>‹#›</a:t>
            </a:fld>
            <a:endParaRPr lang="en-US"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50" r:id="rId1"/>
    <p:sldLayoutId id="2147483664" r:id="rId2"/>
  </p:sldLayoutIdLst>
  <p:hf hdr="0" ftr="0" dt="0"/>
  <p:txStyles>
    <p:titleStyle>
      <a:lvl1pPr algn="l" rtl="0" eaLnBrk="1" fontAlgn="base" hangingPunct="1">
        <a:spcBef>
          <a:spcPct val="0"/>
        </a:spcBef>
        <a:spcAft>
          <a:spcPct val="0"/>
        </a:spcAft>
        <a:defRPr sz="3500">
          <a:solidFill>
            <a:srgbClr val="C8102E"/>
          </a:solidFill>
          <a:latin typeface="+mj-lt"/>
          <a:ea typeface="+mj-ea"/>
          <a:cs typeface="+mj-cs"/>
        </a:defRPr>
      </a:lvl1pPr>
      <a:lvl2pPr algn="l" rtl="0" eaLnBrk="1" fontAlgn="base" hangingPunct="1">
        <a:spcBef>
          <a:spcPct val="0"/>
        </a:spcBef>
        <a:spcAft>
          <a:spcPct val="0"/>
        </a:spcAft>
        <a:defRPr sz="3500">
          <a:solidFill>
            <a:srgbClr val="CE1126"/>
          </a:solidFill>
          <a:latin typeface="Univers 67 CondensedBold" charset="0"/>
        </a:defRPr>
      </a:lvl2pPr>
      <a:lvl3pPr algn="l" rtl="0" eaLnBrk="1" fontAlgn="base" hangingPunct="1">
        <a:spcBef>
          <a:spcPct val="0"/>
        </a:spcBef>
        <a:spcAft>
          <a:spcPct val="0"/>
        </a:spcAft>
        <a:defRPr sz="3500">
          <a:solidFill>
            <a:srgbClr val="CE1126"/>
          </a:solidFill>
          <a:latin typeface="Univers 67 CondensedBold" charset="0"/>
        </a:defRPr>
      </a:lvl3pPr>
      <a:lvl4pPr algn="l" rtl="0" eaLnBrk="1" fontAlgn="base" hangingPunct="1">
        <a:spcBef>
          <a:spcPct val="0"/>
        </a:spcBef>
        <a:spcAft>
          <a:spcPct val="0"/>
        </a:spcAft>
        <a:defRPr sz="3500">
          <a:solidFill>
            <a:srgbClr val="CE1126"/>
          </a:solidFill>
          <a:latin typeface="Univers 67 CondensedBold" charset="0"/>
        </a:defRPr>
      </a:lvl4pPr>
      <a:lvl5pPr algn="l" rtl="0" eaLnBrk="1" fontAlgn="base" hangingPunct="1">
        <a:spcBef>
          <a:spcPct val="0"/>
        </a:spcBef>
        <a:spcAft>
          <a:spcPct val="0"/>
        </a:spcAft>
        <a:defRPr sz="3500">
          <a:solidFill>
            <a:srgbClr val="CE1126"/>
          </a:solidFill>
          <a:latin typeface="Univers 67 CondensedBold" charset="0"/>
        </a:defRPr>
      </a:lvl5pPr>
      <a:lvl6pPr marL="457200" algn="l" rtl="0" eaLnBrk="1" fontAlgn="base" hangingPunct="1">
        <a:spcBef>
          <a:spcPct val="0"/>
        </a:spcBef>
        <a:spcAft>
          <a:spcPct val="0"/>
        </a:spcAft>
        <a:defRPr sz="3500">
          <a:solidFill>
            <a:srgbClr val="CE1126"/>
          </a:solidFill>
          <a:latin typeface="Univers 67 CondensedBold" charset="0"/>
        </a:defRPr>
      </a:lvl6pPr>
      <a:lvl7pPr marL="914400" algn="l" rtl="0" eaLnBrk="1" fontAlgn="base" hangingPunct="1">
        <a:spcBef>
          <a:spcPct val="0"/>
        </a:spcBef>
        <a:spcAft>
          <a:spcPct val="0"/>
        </a:spcAft>
        <a:defRPr sz="3500">
          <a:solidFill>
            <a:srgbClr val="CE1126"/>
          </a:solidFill>
          <a:latin typeface="Univers 67 CondensedBold" charset="0"/>
        </a:defRPr>
      </a:lvl7pPr>
      <a:lvl8pPr marL="1371600" algn="l" rtl="0" eaLnBrk="1" fontAlgn="base" hangingPunct="1">
        <a:spcBef>
          <a:spcPct val="0"/>
        </a:spcBef>
        <a:spcAft>
          <a:spcPct val="0"/>
        </a:spcAft>
        <a:defRPr sz="3500">
          <a:solidFill>
            <a:srgbClr val="CE1126"/>
          </a:solidFill>
          <a:latin typeface="Univers 67 CondensedBold" charset="0"/>
        </a:defRPr>
      </a:lvl8pPr>
      <a:lvl9pPr marL="1828800" algn="l" rtl="0" eaLnBrk="1" fontAlgn="base" hangingPunct="1">
        <a:spcBef>
          <a:spcPct val="0"/>
        </a:spcBef>
        <a:spcAft>
          <a:spcPct val="0"/>
        </a:spcAft>
        <a:defRPr sz="3500">
          <a:solidFill>
            <a:srgbClr val="CE1126"/>
          </a:solidFill>
          <a:latin typeface="Univers 67 CondensedBold" charset="0"/>
        </a:defRPr>
      </a:lvl9pPr>
    </p:titleStyle>
    <p:bodyStyle>
      <a:lvl1pPr marL="342900" indent="-3429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mn-ea"/>
          <a:cs typeface="+mn-cs"/>
        </a:defRPr>
      </a:lvl1pPr>
      <a:lvl2pPr marL="742950" indent="-28575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2pPr>
      <a:lvl3pPr marL="11430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3pPr>
      <a:lvl4pPr marL="16002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4pPr>
      <a:lvl5pPr marL="20574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5pPr>
      <a:lvl6pPr marL="25146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6pPr>
      <a:lvl7pPr marL="29718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7pPr>
      <a:lvl8pPr marL="34290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8pPr>
      <a:lvl9pPr marL="38862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5904" r="5535"/>
          <a:stretch/>
        </p:blipFill>
        <p:spPr>
          <a:xfrm>
            <a:off x="0" y="-25400"/>
            <a:ext cx="9144000" cy="6883400"/>
          </a:xfrm>
          <a:prstGeom prst="rect">
            <a:avLst/>
          </a:prstGeom>
        </p:spPr>
      </p:pic>
      <p:sp>
        <p:nvSpPr>
          <p:cNvPr id="12" name="Rectangle 11"/>
          <p:cNvSpPr/>
          <p:nvPr/>
        </p:nvSpPr>
        <p:spPr bwMode="auto">
          <a:xfrm>
            <a:off x="0" y="-25400"/>
            <a:ext cx="9144000" cy="6883400"/>
          </a:xfrm>
          <a:prstGeom prst="rect">
            <a:avLst/>
          </a:prstGeom>
          <a:solidFill>
            <a:srgbClr val="C8102E">
              <a:alpha val="9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C8102E"/>
              </a:solidFill>
              <a:effectLst/>
              <a:latin typeface="Times" charset="0"/>
            </a:endParaRPr>
          </a:p>
        </p:txBody>
      </p:sp>
      <p:sp>
        <p:nvSpPr>
          <p:cNvPr id="6" name="TextBox 5"/>
          <p:cNvSpPr txBox="1"/>
          <p:nvPr/>
        </p:nvSpPr>
        <p:spPr>
          <a:xfrm>
            <a:off x="934452" y="3646214"/>
            <a:ext cx="7218947" cy="338554"/>
          </a:xfrm>
          <a:prstGeom prst="rect">
            <a:avLst/>
          </a:prstGeom>
          <a:noFill/>
        </p:spPr>
        <p:txBody>
          <a:bodyPr wrap="square" rtlCol="0">
            <a:spAutoFit/>
          </a:bodyPr>
          <a:lstStyle/>
          <a:p>
            <a:pPr fontAlgn="b"/>
            <a:r>
              <a:rPr lang="en-US" sz="1600" dirty="0">
                <a:solidFill>
                  <a:schemeClr val="bg1"/>
                </a:solidFill>
                <a:latin typeface="Univers 55 Roman" charset="0"/>
                <a:ea typeface="Univers 55 Roman" charset="0"/>
                <a:cs typeface="Univers 55 Roman" charset="0"/>
              </a:rPr>
              <a:t>Featuring Long and Short term Memory, State Space Model, and Kalman and his filter</a:t>
            </a:r>
          </a:p>
        </p:txBody>
      </p:sp>
      <p:sp>
        <p:nvSpPr>
          <p:cNvPr id="7" name="TextBox 6"/>
          <p:cNvSpPr txBox="1"/>
          <p:nvPr/>
        </p:nvSpPr>
        <p:spPr>
          <a:xfrm>
            <a:off x="914400" y="2915230"/>
            <a:ext cx="7162800" cy="707886"/>
          </a:xfrm>
          <a:prstGeom prst="rect">
            <a:avLst/>
          </a:prstGeom>
          <a:noFill/>
        </p:spPr>
        <p:txBody>
          <a:bodyPr wrap="square" rtlCol="0" anchor="b" anchorCtr="0">
            <a:spAutoFit/>
          </a:bodyPr>
          <a:lstStyle/>
          <a:p>
            <a:r>
              <a:rPr lang="en-US" sz="4000" dirty="0">
                <a:solidFill>
                  <a:schemeClr val="bg1"/>
                </a:solidFill>
                <a:latin typeface="Univers 57 Condensed" charset="0"/>
                <a:ea typeface="Univers 57 Condensed" charset="0"/>
                <a:cs typeface="Univers 57 Condensed" charset="0"/>
              </a:rPr>
              <a:t>Craig’s Sick Time Series Research</a:t>
            </a:r>
          </a:p>
        </p:txBody>
      </p:sp>
      <p:pic>
        <p:nvPicPr>
          <p:cNvPr id="8" name="Picture 7" descr="ISU LEFT white.eps"/>
          <p:cNvPicPr>
            <a:picLocks noChangeAspect="1"/>
          </p:cNvPicPr>
          <p:nvPr/>
        </p:nvPicPr>
        <p:blipFill>
          <a:blip r:embed="rId3"/>
          <a:srcRect b="38235"/>
          <a:stretch>
            <a:fillRect/>
          </a:stretch>
        </p:blipFill>
        <p:spPr bwMode="auto">
          <a:xfrm>
            <a:off x="6400800" y="6452857"/>
            <a:ext cx="2396490" cy="197359"/>
          </a:xfrm>
          <a:prstGeom prst="rect">
            <a:avLst/>
          </a:prstGeom>
          <a:noFill/>
          <a:ln w="9525">
            <a:noFill/>
            <a:miter lim="800000"/>
            <a:headEnd/>
            <a:tailEnd/>
          </a:ln>
        </p:spPr>
      </p:pic>
      <p:sp>
        <p:nvSpPr>
          <p:cNvPr id="9" name="TextBox 8"/>
          <p:cNvSpPr txBox="1"/>
          <p:nvPr/>
        </p:nvSpPr>
        <p:spPr>
          <a:xfrm>
            <a:off x="934453" y="5013585"/>
            <a:ext cx="7162800" cy="338554"/>
          </a:xfrm>
          <a:prstGeom prst="rect">
            <a:avLst/>
          </a:prstGeom>
          <a:noFill/>
        </p:spPr>
        <p:txBody>
          <a:bodyPr wrap="square" rtlCol="0">
            <a:spAutoFit/>
          </a:bodyPr>
          <a:lstStyle/>
          <a:p>
            <a:pPr fontAlgn="b"/>
            <a:r>
              <a:rPr lang="en-US" sz="1600" i="1" dirty="0">
                <a:solidFill>
                  <a:schemeClr val="bg1"/>
                </a:solidFill>
                <a:latin typeface="ITC Berkeley Oldstyle Book" charset="0"/>
                <a:ea typeface="ITC Berkeley Oldstyle Book" charset="0"/>
                <a:cs typeface="ITC Berkeley Oldstyle Book" charset="0"/>
              </a:rPr>
              <a:t>Craig Orman, intended for Dr. Farzad</a:t>
            </a:r>
          </a:p>
        </p:txBody>
      </p:sp>
      <p:cxnSp>
        <p:nvCxnSpPr>
          <p:cNvPr id="10" name="Straight Connector 9"/>
          <p:cNvCxnSpPr/>
          <p:nvPr/>
        </p:nvCxnSpPr>
        <p:spPr bwMode="auto">
          <a:xfrm>
            <a:off x="0" y="4495800"/>
            <a:ext cx="9144000" cy="0"/>
          </a:xfrm>
          <a:prstGeom prst="line">
            <a:avLst/>
          </a:prstGeom>
          <a:solidFill>
            <a:schemeClr val="accent1"/>
          </a:solidFill>
          <a:ln w="9525" cap="flat" cmpd="sng" algn="ctr">
            <a:solidFill>
              <a:srgbClr val="F1BE48">
                <a:alpha val="80000"/>
              </a:srgbClr>
            </a:solidFill>
            <a:prstDash val="solid"/>
            <a:round/>
            <a:headEnd type="none" w="med" len="med"/>
            <a:tailEnd type="none" w="med" len="med"/>
          </a:ln>
          <a:effectLst/>
        </p:spPr>
      </p:cxnSp>
    </p:spTree>
    <p:extLst>
      <p:ext uri="{BB962C8B-B14F-4D97-AF65-F5344CB8AC3E}">
        <p14:creationId xmlns:p14="http://schemas.microsoft.com/office/powerpoint/2010/main" val="59300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4520" y="1383090"/>
            <a:ext cx="7701280" cy="2270109"/>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Time series are a way of modeling data that is dependent across observations over a unit of time. The </a:t>
            </a:r>
            <a:r>
              <a:rPr lang="en-US" sz="1600" dirty="0" err="1">
                <a:solidFill>
                  <a:srgbClr val="7A6E67"/>
                </a:solidFill>
                <a:latin typeface="ITC Berkeley Oldstyle Medium" charset="0"/>
                <a:ea typeface="ITC Berkeley Oldstyle Medium" charset="0"/>
                <a:cs typeface="ITC Berkeley Oldstyle Medium" charset="0"/>
              </a:rPr>
              <a:t>AutoCorrelation</a:t>
            </a:r>
            <a:r>
              <a:rPr lang="en-US" sz="1600" dirty="0">
                <a:solidFill>
                  <a:srgbClr val="7A6E67"/>
                </a:solidFill>
                <a:latin typeface="ITC Berkeley Oldstyle Medium" charset="0"/>
                <a:ea typeface="ITC Berkeley Oldstyle Medium" charset="0"/>
                <a:cs typeface="ITC Berkeley Oldstyle Medium" charset="0"/>
              </a:rPr>
              <a:t> Function (ACF) shows the covariance between time point t, and time point </a:t>
            </a:r>
            <a:r>
              <a:rPr lang="en-US" sz="1600" dirty="0" err="1">
                <a:solidFill>
                  <a:srgbClr val="7A6E67"/>
                </a:solidFill>
                <a:latin typeface="ITC Berkeley Oldstyle Medium" charset="0"/>
                <a:ea typeface="ITC Berkeley Oldstyle Medium" charset="0"/>
                <a:cs typeface="ITC Berkeley Oldstyle Medium" charset="0"/>
              </a:rPr>
              <a:t>t+h</a:t>
            </a:r>
            <a:r>
              <a:rPr lang="en-US" sz="1600" dirty="0">
                <a:solidFill>
                  <a:srgbClr val="7A6E67"/>
                </a:solidFill>
                <a:latin typeface="ITC Berkeley Oldstyle Medium" charset="0"/>
                <a:ea typeface="ITC Berkeley Oldstyle Medium" charset="0"/>
                <a:cs typeface="ITC Berkeley Oldstyle Medium" charset="0"/>
              </a:rPr>
              <a:t>. A higher absolute covariance means that the two are more dependent. Typically speaking, as h increases, the ACF converges to 0. The rate at which this convergence happens dictates which models will work well, and if it is a Long-Memory or a Short-Memory Model.</a:t>
            </a:r>
          </a:p>
        </p:txBody>
      </p:sp>
      <p:sp>
        <p:nvSpPr>
          <p:cNvPr id="3" name="TextBox 2"/>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Short Versus Long term memory</a:t>
            </a:r>
            <a:endParaRPr lang="en-US" sz="2200" dirty="0">
              <a:solidFill>
                <a:srgbClr val="C8102E"/>
              </a:solidFill>
            </a:endParaRPr>
          </a:p>
        </p:txBody>
      </p:sp>
      <p:cxnSp>
        <p:nvCxnSpPr>
          <p:cNvPr id="4" name="Straight Connector 3"/>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1839405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647B-3947-5381-6314-17FD027D43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D03A7C-FDAE-5487-D14D-060BABC9BB2A}"/>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Short Versus Long term memory</a:t>
            </a:r>
            <a:endParaRPr lang="en-US" sz="2200" dirty="0">
              <a:solidFill>
                <a:srgbClr val="C8102E"/>
              </a:solidFill>
            </a:endParaRPr>
          </a:p>
        </p:txBody>
      </p:sp>
      <p:pic>
        <p:nvPicPr>
          <p:cNvPr id="9" name="Picture 8">
            <a:extLst>
              <a:ext uri="{FF2B5EF4-FFF2-40B4-BE49-F238E27FC236}">
                <a16:creationId xmlns:a16="http://schemas.microsoft.com/office/drawing/2014/main" id="{4304D1F6-BA2E-E5D9-584F-07444BA2E612}"/>
              </a:ext>
            </a:extLst>
          </p:cNvPr>
          <p:cNvPicPr>
            <a:picLocks noChangeAspect="1"/>
          </p:cNvPicPr>
          <p:nvPr/>
        </p:nvPicPr>
        <p:blipFill>
          <a:blip r:embed="rId3"/>
          <a:stretch>
            <a:fillRect/>
          </a:stretch>
        </p:blipFill>
        <p:spPr>
          <a:xfrm>
            <a:off x="685800" y="1020481"/>
            <a:ext cx="8001000" cy="5240092"/>
          </a:xfrm>
          <a:prstGeom prst="rect">
            <a:avLst/>
          </a:prstGeom>
          <a:ln>
            <a:solidFill>
              <a:schemeClr val="tx1"/>
            </a:solidFill>
          </a:ln>
        </p:spPr>
      </p:pic>
    </p:spTree>
    <p:extLst>
      <p:ext uri="{BB962C8B-B14F-4D97-AF65-F5344CB8AC3E}">
        <p14:creationId xmlns:p14="http://schemas.microsoft.com/office/powerpoint/2010/main" val="4090542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ABD1B5-1204-19B8-5809-36D39EBFC24C}"/>
              </a:ext>
            </a:extLst>
          </p:cNvPr>
          <p:cNvSpPr txBox="1"/>
          <p:nvPr/>
        </p:nvSpPr>
        <p:spPr>
          <a:xfrm>
            <a:off x="604520" y="583109"/>
            <a:ext cx="5105400" cy="430887"/>
          </a:xfrm>
          <a:prstGeom prst="rect">
            <a:avLst/>
          </a:prstGeom>
          <a:noFill/>
        </p:spPr>
        <p:txBody>
          <a:bodyPr wrap="square" rtlCol="0">
            <a:spAutoFit/>
          </a:bodyPr>
          <a:lstStyle/>
          <a:p>
            <a:r>
              <a:rPr lang="en-US" sz="2200" dirty="0">
                <a:solidFill>
                  <a:srgbClr val="C8102E"/>
                </a:solidFill>
              </a:rPr>
              <a:t>Short vs Long Equations</a:t>
            </a:r>
          </a:p>
        </p:txBody>
      </p:sp>
      <p:pic>
        <p:nvPicPr>
          <p:cNvPr id="4" name="Picture 3">
            <a:extLst>
              <a:ext uri="{FF2B5EF4-FFF2-40B4-BE49-F238E27FC236}">
                <a16:creationId xmlns:a16="http://schemas.microsoft.com/office/drawing/2014/main" id="{CD46486A-BF4D-87DA-5C85-0327161D0979}"/>
              </a:ext>
            </a:extLst>
          </p:cNvPr>
          <p:cNvPicPr>
            <a:picLocks noChangeAspect="1"/>
          </p:cNvPicPr>
          <p:nvPr/>
        </p:nvPicPr>
        <p:blipFill>
          <a:blip r:embed="rId2"/>
          <a:stretch>
            <a:fillRect/>
          </a:stretch>
        </p:blipFill>
        <p:spPr>
          <a:xfrm>
            <a:off x="1491716" y="1289062"/>
            <a:ext cx="4848902" cy="1667108"/>
          </a:xfrm>
          <a:prstGeom prst="rect">
            <a:avLst/>
          </a:prstGeom>
          <a:ln>
            <a:solidFill>
              <a:schemeClr val="tx1"/>
            </a:solidFill>
          </a:ln>
        </p:spPr>
      </p:pic>
      <p:pic>
        <p:nvPicPr>
          <p:cNvPr id="7" name="Picture 6">
            <a:extLst>
              <a:ext uri="{FF2B5EF4-FFF2-40B4-BE49-F238E27FC236}">
                <a16:creationId xmlns:a16="http://schemas.microsoft.com/office/drawing/2014/main" id="{C1BA110B-1824-A223-ED7E-79C8319ED3D8}"/>
              </a:ext>
            </a:extLst>
          </p:cNvPr>
          <p:cNvPicPr>
            <a:picLocks noChangeAspect="1"/>
          </p:cNvPicPr>
          <p:nvPr/>
        </p:nvPicPr>
        <p:blipFill>
          <a:blip r:embed="rId3"/>
          <a:stretch>
            <a:fillRect/>
          </a:stretch>
        </p:blipFill>
        <p:spPr>
          <a:xfrm>
            <a:off x="2006138" y="3429000"/>
            <a:ext cx="3820058" cy="1381318"/>
          </a:xfrm>
          <a:prstGeom prst="rect">
            <a:avLst/>
          </a:prstGeom>
          <a:ln>
            <a:solidFill>
              <a:schemeClr val="tx1"/>
            </a:solidFill>
          </a:ln>
        </p:spPr>
      </p:pic>
    </p:spTree>
    <p:extLst>
      <p:ext uri="{BB962C8B-B14F-4D97-AF65-F5344CB8AC3E}">
        <p14:creationId xmlns:p14="http://schemas.microsoft.com/office/powerpoint/2010/main" val="4055522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97DB4-DF1F-2197-F440-39F9B65F69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3CC5F5-28FA-6E9A-1DAE-CF7C997139AB}"/>
              </a:ext>
            </a:extLst>
          </p:cNvPr>
          <p:cNvSpPr txBox="1"/>
          <p:nvPr/>
        </p:nvSpPr>
        <p:spPr>
          <a:xfrm>
            <a:off x="604520" y="1383090"/>
            <a:ext cx="7701280" cy="1569660"/>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This is a normal content page. This type of page is useful for larger bodies of text, namely paragraph length pieces. Use this type of page for certain types of content such as extended quotes, introductory paragraphs for presentations, and other long-format pieces when necessary.</a:t>
            </a:r>
          </a:p>
        </p:txBody>
      </p:sp>
      <p:sp>
        <p:nvSpPr>
          <p:cNvPr id="3" name="TextBox 2">
            <a:extLst>
              <a:ext uri="{FF2B5EF4-FFF2-40B4-BE49-F238E27FC236}">
                <a16:creationId xmlns:a16="http://schemas.microsoft.com/office/drawing/2014/main" id="{3401B55A-EA4F-5F86-5647-67159C518A8A}"/>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State Space Models</a:t>
            </a:r>
            <a:endParaRPr lang="en-US" sz="2200" dirty="0">
              <a:solidFill>
                <a:srgbClr val="C8102E"/>
              </a:solidFill>
            </a:endParaRPr>
          </a:p>
        </p:txBody>
      </p:sp>
      <p:cxnSp>
        <p:nvCxnSpPr>
          <p:cNvPr id="4" name="Straight Connector 3">
            <a:extLst>
              <a:ext uri="{FF2B5EF4-FFF2-40B4-BE49-F238E27FC236}">
                <a16:creationId xmlns:a16="http://schemas.microsoft.com/office/drawing/2014/main" id="{D10A73B2-0911-01DC-0898-58FA8FD857E8}"/>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3203406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DAAD8A-649B-DD19-6E45-93C881795A51}"/>
              </a:ext>
            </a:extLst>
          </p:cNvPr>
          <p:cNvPicPr>
            <a:picLocks noChangeAspect="1"/>
          </p:cNvPicPr>
          <p:nvPr/>
        </p:nvPicPr>
        <p:blipFill>
          <a:blip r:embed="rId2"/>
          <a:stretch>
            <a:fillRect/>
          </a:stretch>
        </p:blipFill>
        <p:spPr>
          <a:xfrm>
            <a:off x="2790574" y="1066800"/>
            <a:ext cx="3562847" cy="1952898"/>
          </a:xfrm>
          <a:prstGeom prst="rect">
            <a:avLst/>
          </a:prstGeom>
          <a:ln>
            <a:solidFill>
              <a:schemeClr val="tx1"/>
            </a:solidFill>
          </a:ln>
        </p:spPr>
      </p:pic>
      <p:pic>
        <p:nvPicPr>
          <p:cNvPr id="7" name="Picture 6">
            <a:extLst>
              <a:ext uri="{FF2B5EF4-FFF2-40B4-BE49-F238E27FC236}">
                <a16:creationId xmlns:a16="http://schemas.microsoft.com/office/drawing/2014/main" id="{452EC7E8-E3A3-E88A-FD8D-F7B20CC2A1CC}"/>
              </a:ext>
            </a:extLst>
          </p:cNvPr>
          <p:cNvPicPr>
            <a:picLocks noChangeAspect="1"/>
          </p:cNvPicPr>
          <p:nvPr/>
        </p:nvPicPr>
        <p:blipFill>
          <a:blip r:embed="rId3"/>
          <a:stretch>
            <a:fillRect/>
          </a:stretch>
        </p:blipFill>
        <p:spPr>
          <a:xfrm>
            <a:off x="2033230" y="4953000"/>
            <a:ext cx="5077534" cy="495369"/>
          </a:xfrm>
          <a:prstGeom prst="rect">
            <a:avLst/>
          </a:prstGeom>
        </p:spPr>
      </p:pic>
      <p:sp>
        <p:nvSpPr>
          <p:cNvPr id="8" name="TextBox 7">
            <a:extLst>
              <a:ext uri="{FF2B5EF4-FFF2-40B4-BE49-F238E27FC236}">
                <a16:creationId xmlns:a16="http://schemas.microsoft.com/office/drawing/2014/main" id="{29907E1F-8454-8D05-ED62-3746AB4E7472}"/>
              </a:ext>
            </a:extLst>
          </p:cNvPr>
          <p:cNvSpPr txBox="1"/>
          <p:nvPr/>
        </p:nvSpPr>
        <p:spPr>
          <a:xfrm>
            <a:off x="2418204" y="454967"/>
            <a:ext cx="4307589" cy="461665"/>
          </a:xfrm>
          <a:prstGeom prst="rect">
            <a:avLst/>
          </a:prstGeom>
          <a:noFill/>
        </p:spPr>
        <p:txBody>
          <a:bodyPr wrap="none" rtlCol="0">
            <a:spAutoFit/>
          </a:bodyPr>
          <a:lstStyle/>
          <a:p>
            <a:r>
              <a:rPr lang="en-US" dirty="0"/>
              <a:t>State Space Model representation</a:t>
            </a:r>
          </a:p>
        </p:txBody>
      </p:sp>
      <p:sp>
        <p:nvSpPr>
          <p:cNvPr id="2" name="TextBox 1">
            <a:extLst>
              <a:ext uri="{FF2B5EF4-FFF2-40B4-BE49-F238E27FC236}">
                <a16:creationId xmlns:a16="http://schemas.microsoft.com/office/drawing/2014/main" id="{70B86E4D-56A3-F660-A8EE-A0B4F39FC17D}"/>
              </a:ext>
            </a:extLst>
          </p:cNvPr>
          <p:cNvSpPr txBox="1"/>
          <p:nvPr/>
        </p:nvSpPr>
        <p:spPr>
          <a:xfrm>
            <a:off x="3505200" y="4343400"/>
            <a:ext cx="2361544" cy="461665"/>
          </a:xfrm>
          <a:prstGeom prst="rect">
            <a:avLst/>
          </a:prstGeom>
          <a:noFill/>
        </p:spPr>
        <p:txBody>
          <a:bodyPr wrap="none" rtlCol="0">
            <a:spAutoFit/>
          </a:bodyPr>
          <a:lstStyle/>
          <a:p>
            <a:r>
              <a:rPr lang="en-US" dirty="0"/>
              <a:t>Or in math terms:</a:t>
            </a:r>
          </a:p>
        </p:txBody>
      </p:sp>
    </p:spTree>
    <p:extLst>
      <p:ext uri="{BB962C8B-B14F-4D97-AF65-F5344CB8AC3E}">
        <p14:creationId xmlns:p14="http://schemas.microsoft.com/office/powerpoint/2010/main" val="3038190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9FD67F-77C7-D89A-36DD-E602F811A52B}"/>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State Space Models, who cares?</a:t>
            </a:r>
            <a:endParaRPr lang="en-US" sz="2200" dirty="0">
              <a:solidFill>
                <a:srgbClr val="C8102E"/>
              </a:solidFill>
            </a:endParaRPr>
          </a:p>
        </p:txBody>
      </p:sp>
      <p:cxnSp>
        <p:nvCxnSpPr>
          <p:cNvPr id="3" name="Straight Connector 2">
            <a:extLst>
              <a:ext uri="{FF2B5EF4-FFF2-40B4-BE49-F238E27FC236}">
                <a16:creationId xmlns:a16="http://schemas.microsoft.com/office/drawing/2014/main" id="{380EA4F1-6494-CE1B-ADF3-C2FAC0D3BA67}"/>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6" name="Picture 5">
            <a:extLst>
              <a:ext uri="{FF2B5EF4-FFF2-40B4-BE49-F238E27FC236}">
                <a16:creationId xmlns:a16="http://schemas.microsoft.com/office/drawing/2014/main" id="{ACE60051-9A97-407A-02F5-6EA6D01171BF}"/>
              </a:ext>
            </a:extLst>
          </p:cNvPr>
          <p:cNvPicPr>
            <a:picLocks noChangeAspect="1"/>
          </p:cNvPicPr>
          <p:nvPr/>
        </p:nvPicPr>
        <p:blipFill>
          <a:blip r:embed="rId2"/>
          <a:stretch>
            <a:fillRect/>
          </a:stretch>
        </p:blipFill>
        <p:spPr>
          <a:xfrm>
            <a:off x="707571" y="1295400"/>
            <a:ext cx="6658904" cy="1581371"/>
          </a:xfrm>
          <a:prstGeom prst="rect">
            <a:avLst/>
          </a:prstGeom>
        </p:spPr>
      </p:pic>
      <p:sp>
        <p:nvSpPr>
          <p:cNvPr id="7" name="TextBox 6">
            <a:extLst>
              <a:ext uri="{FF2B5EF4-FFF2-40B4-BE49-F238E27FC236}">
                <a16:creationId xmlns:a16="http://schemas.microsoft.com/office/drawing/2014/main" id="{5676B77A-E63F-E396-5F5B-21DA88E2F3F5}"/>
              </a:ext>
            </a:extLst>
          </p:cNvPr>
          <p:cNvSpPr txBox="1"/>
          <p:nvPr/>
        </p:nvSpPr>
        <p:spPr>
          <a:xfrm>
            <a:off x="1221563" y="3657600"/>
            <a:ext cx="6675225" cy="461665"/>
          </a:xfrm>
          <a:prstGeom prst="rect">
            <a:avLst/>
          </a:prstGeom>
          <a:noFill/>
        </p:spPr>
        <p:txBody>
          <a:bodyPr wrap="none" rtlCol="0">
            <a:spAutoFit/>
          </a:bodyPr>
          <a:lstStyle/>
          <a:p>
            <a:r>
              <a:rPr lang="en-US" dirty="0"/>
              <a:t>Ok, say I’m interested in Filtering, how do I do that?</a:t>
            </a:r>
          </a:p>
        </p:txBody>
      </p:sp>
      <p:sp>
        <p:nvSpPr>
          <p:cNvPr id="4" name="TextBox 3">
            <a:extLst>
              <a:ext uri="{FF2B5EF4-FFF2-40B4-BE49-F238E27FC236}">
                <a16:creationId xmlns:a16="http://schemas.microsoft.com/office/drawing/2014/main" id="{06604F28-2D5B-FE5D-F7EC-53317E5D64B7}"/>
              </a:ext>
            </a:extLst>
          </p:cNvPr>
          <p:cNvSpPr txBox="1"/>
          <p:nvPr/>
        </p:nvSpPr>
        <p:spPr>
          <a:xfrm>
            <a:off x="2497809" y="4669261"/>
            <a:ext cx="4197239" cy="461665"/>
          </a:xfrm>
          <a:prstGeom prst="rect">
            <a:avLst/>
          </a:prstGeom>
          <a:noFill/>
        </p:spPr>
        <p:txBody>
          <a:bodyPr wrap="none" rtlCol="0">
            <a:spAutoFit/>
          </a:bodyPr>
          <a:lstStyle/>
          <a:p>
            <a:r>
              <a:rPr lang="en-US" b="1" dirty="0"/>
              <a:t>Answer: </a:t>
            </a:r>
            <a:r>
              <a:rPr lang="en-US" dirty="0"/>
              <a:t>We ask Kalman nicely.</a:t>
            </a:r>
          </a:p>
        </p:txBody>
      </p:sp>
    </p:spTree>
    <p:extLst>
      <p:ext uri="{BB962C8B-B14F-4D97-AF65-F5344CB8AC3E}">
        <p14:creationId xmlns:p14="http://schemas.microsoft.com/office/powerpoint/2010/main" val="1746711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3F563-DAF0-72CB-91D7-9B578050CF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90540E-5A57-3261-D6F4-E023980D077E}"/>
              </a:ext>
            </a:extLst>
          </p:cNvPr>
          <p:cNvSpPr txBox="1"/>
          <p:nvPr/>
        </p:nvSpPr>
        <p:spPr>
          <a:xfrm>
            <a:off x="604520" y="1383090"/>
            <a:ext cx="7701280" cy="2270109"/>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Rudolf Emil Kalman (passed 2016) was a Hungarian-American Electrical Engineer, Mathematician, and inventor. Did a lot of cool stuff involving space stuff, awarded a national medal of science in 2009 by Barrack Obama.</a:t>
            </a:r>
          </a:p>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The Kalman Filter provides a (conditionally)  BLUE estimator of the current time’s state space. It can also help impute missing data values rather easily</a:t>
            </a:r>
          </a:p>
        </p:txBody>
      </p:sp>
      <p:sp>
        <p:nvSpPr>
          <p:cNvPr id="3" name="TextBox 2">
            <a:extLst>
              <a:ext uri="{FF2B5EF4-FFF2-40B4-BE49-F238E27FC236}">
                <a16:creationId xmlns:a16="http://schemas.microsoft.com/office/drawing/2014/main" id="{F11F6C42-D7B6-5CC0-8AA7-639AE96FC79C}"/>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Who is Kalman and why does he filter?</a:t>
            </a:r>
            <a:endParaRPr lang="en-US" sz="2200" dirty="0">
              <a:solidFill>
                <a:srgbClr val="C8102E"/>
              </a:solidFill>
            </a:endParaRPr>
          </a:p>
        </p:txBody>
      </p:sp>
      <p:cxnSp>
        <p:nvCxnSpPr>
          <p:cNvPr id="4" name="Straight Connector 3">
            <a:extLst>
              <a:ext uri="{FF2B5EF4-FFF2-40B4-BE49-F238E27FC236}">
                <a16:creationId xmlns:a16="http://schemas.microsoft.com/office/drawing/2014/main" id="{5BCC3494-20CE-A9FA-1FAE-BADBFFC89AB1}"/>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307664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76536-35F1-B391-651E-2D6500BCD1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6F8963-3EF1-5401-4F9B-72B3E977DF2C}"/>
              </a:ext>
            </a:extLst>
          </p:cNvPr>
          <p:cNvSpPr txBox="1"/>
          <p:nvPr/>
        </p:nvSpPr>
        <p:spPr>
          <a:xfrm>
            <a:off x="604520" y="1371600"/>
            <a:ext cx="7701280" cy="3747436"/>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The idea behind the work is very simple, </a:t>
            </a:r>
          </a:p>
          <a:p>
            <a:pPr marL="342900" indent="-342900">
              <a:lnSpc>
                <a:spcPct val="150000"/>
              </a:lnSpc>
              <a:spcBef>
                <a:spcPts val="0"/>
              </a:spcBef>
              <a:buFont typeface="+mj-lt"/>
              <a:buAutoNum type="arabicPeriod"/>
            </a:pPr>
            <a:r>
              <a:rPr lang="en-US" sz="1600" dirty="0">
                <a:solidFill>
                  <a:srgbClr val="7A6E67"/>
                </a:solidFill>
                <a:latin typeface="ITC Berkeley Oldstyle Medium" charset="0"/>
                <a:ea typeface="ITC Berkeley Oldstyle Medium" charset="0"/>
                <a:cs typeface="ITC Berkeley Oldstyle Medium" charset="0"/>
              </a:rPr>
              <a:t>Predict based on lag of -1</a:t>
            </a:r>
          </a:p>
          <a:p>
            <a:pPr marL="342900" indent="-342900">
              <a:lnSpc>
                <a:spcPct val="150000"/>
              </a:lnSpc>
              <a:spcBef>
                <a:spcPts val="0"/>
              </a:spcBef>
              <a:buFont typeface="+mj-lt"/>
              <a:buAutoNum type="arabicPeriod"/>
            </a:pPr>
            <a:r>
              <a:rPr lang="en-US" sz="1600" dirty="0">
                <a:solidFill>
                  <a:srgbClr val="7A6E67"/>
                </a:solidFill>
                <a:latin typeface="ITC Berkeley Oldstyle Medium" charset="0"/>
                <a:ea typeface="ITC Berkeley Oldstyle Medium" charset="0"/>
                <a:cs typeface="ITC Berkeley Oldstyle Medium" charset="0"/>
              </a:rPr>
              <a:t>Update based on new information</a:t>
            </a:r>
          </a:p>
          <a:p>
            <a:pPr marL="342900" indent="-342900">
              <a:lnSpc>
                <a:spcPct val="150000"/>
              </a:lnSpc>
              <a:spcBef>
                <a:spcPts val="0"/>
              </a:spcBef>
              <a:buFont typeface="+mj-lt"/>
              <a:buAutoNum type="arabicPeriod"/>
            </a:pPr>
            <a:endParaRPr lang="en-US" sz="1600" dirty="0">
              <a:solidFill>
                <a:srgbClr val="7A6E67"/>
              </a:solidFill>
              <a:latin typeface="ITC Berkeley Oldstyle Medium" charset="0"/>
              <a:ea typeface="ITC Berkeley Oldstyle Medium" charset="0"/>
              <a:cs typeface="ITC Berkeley Oldstyle Medium" charset="0"/>
            </a:endParaRPr>
          </a:p>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Big benefits:</a:t>
            </a:r>
          </a:p>
          <a:p>
            <a:pPr marL="285750" indent="-285750">
              <a:lnSpc>
                <a:spcPct val="150000"/>
              </a:lnSpc>
              <a:spcBef>
                <a:spcPts val="0"/>
              </a:spcBef>
              <a:buFont typeface="Arial" panose="020B0604020202020204" pitchFamily="34" charset="0"/>
              <a:buChar char="•"/>
            </a:pPr>
            <a:r>
              <a:rPr lang="en-US" sz="1600" dirty="0">
                <a:solidFill>
                  <a:srgbClr val="7A6E67"/>
                </a:solidFill>
                <a:latin typeface="ITC Berkeley Oldstyle Medium" charset="0"/>
                <a:ea typeface="ITC Berkeley Oldstyle Medium" charset="0"/>
                <a:cs typeface="ITC Berkeley Oldstyle Medium" charset="0"/>
              </a:rPr>
              <a:t>BLUE</a:t>
            </a:r>
          </a:p>
          <a:p>
            <a:pPr marL="285750" indent="-285750">
              <a:lnSpc>
                <a:spcPct val="150000"/>
              </a:lnSpc>
              <a:spcBef>
                <a:spcPts val="0"/>
              </a:spcBef>
              <a:buFont typeface="Arial" panose="020B0604020202020204" pitchFamily="34" charset="0"/>
              <a:buChar char="•"/>
            </a:pPr>
            <a:r>
              <a:rPr lang="en-US" sz="1600" dirty="0">
                <a:solidFill>
                  <a:srgbClr val="7A6E67"/>
                </a:solidFill>
                <a:latin typeface="ITC Berkeley Oldstyle Medium" charset="0"/>
                <a:ea typeface="ITC Berkeley Oldstyle Medium" charset="0"/>
                <a:cs typeface="ITC Berkeley Oldstyle Medium" charset="0"/>
              </a:rPr>
              <a:t>Requires only keeping a small amount of data (2 points) in memory</a:t>
            </a:r>
          </a:p>
          <a:p>
            <a:pPr marL="285750" indent="-285750">
              <a:lnSpc>
                <a:spcPct val="150000"/>
              </a:lnSpc>
              <a:spcBef>
                <a:spcPts val="0"/>
              </a:spcBef>
              <a:buFont typeface="Arial" panose="020B0604020202020204" pitchFamily="34" charset="0"/>
              <a:buChar char="•"/>
            </a:pPr>
            <a:r>
              <a:rPr lang="en-US" sz="1600" dirty="0">
                <a:solidFill>
                  <a:srgbClr val="7A6E67"/>
                </a:solidFill>
                <a:latin typeface="ITC Berkeley Oldstyle Medium" charset="0"/>
                <a:ea typeface="ITC Berkeley Oldstyle Medium" charset="0"/>
                <a:cs typeface="ITC Berkeley Oldstyle Medium" charset="0"/>
              </a:rPr>
              <a:t>Out of the Box models readily available</a:t>
            </a:r>
          </a:p>
          <a:p>
            <a:pPr marL="285750" indent="-285750">
              <a:lnSpc>
                <a:spcPct val="150000"/>
              </a:lnSpc>
              <a:spcBef>
                <a:spcPts val="0"/>
              </a:spcBef>
              <a:buFont typeface="Arial" panose="020B0604020202020204" pitchFamily="34" charset="0"/>
              <a:buChar char="•"/>
            </a:pPr>
            <a:r>
              <a:rPr lang="en-US" sz="1600" dirty="0">
                <a:solidFill>
                  <a:srgbClr val="7A6E67"/>
                </a:solidFill>
                <a:latin typeface="ITC Berkeley Oldstyle Medium" charset="0"/>
                <a:ea typeface="ITC Berkeley Oldstyle Medium" charset="0"/>
                <a:cs typeface="ITC Berkeley Oldstyle Medium" charset="0"/>
              </a:rPr>
              <a:t>Kalman Smooth</a:t>
            </a:r>
          </a:p>
        </p:txBody>
      </p:sp>
      <p:sp>
        <p:nvSpPr>
          <p:cNvPr id="3" name="TextBox 2">
            <a:extLst>
              <a:ext uri="{FF2B5EF4-FFF2-40B4-BE49-F238E27FC236}">
                <a16:creationId xmlns:a16="http://schemas.microsoft.com/office/drawing/2014/main" id="{0E8126F5-B2D7-EDFD-5589-1DF96918676F}"/>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How does it work?</a:t>
            </a:r>
            <a:endParaRPr lang="en-US" sz="2200" dirty="0">
              <a:solidFill>
                <a:srgbClr val="C8102E"/>
              </a:solidFill>
            </a:endParaRPr>
          </a:p>
        </p:txBody>
      </p:sp>
      <p:cxnSp>
        <p:nvCxnSpPr>
          <p:cNvPr id="4" name="Straight Connector 3">
            <a:extLst>
              <a:ext uri="{FF2B5EF4-FFF2-40B4-BE49-F238E27FC236}">
                <a16:creationId xmlns:a16="http://schemas.microsoft.com/office/drawing/2014/main" id="{67FE63C7-E34B-CE4A-253C-94E0F0C93D45}"/>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410276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4D4CE8-8CF7-5275-33CE-CAFC5C9D93FD}"/>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Kalman Filter mathematically</a:t>
            </a:r>
            <a:endParaRPr lang="en-US" sz="2200" dirty="0">
              <a:solidFill>
                <a:srgbClr val="C8102E"/>
              </a:solidFill>
            </a:endParaRPr>
          </a:p>
        </p:txBody>
      </p:sp>
      <p:cxnSp>
        <p:nvCxnSpPr>
          <p:cNvPr id="3" name="Straight Connector 2">
            <a:extLst>
              <a:ext uri="{FF2B5EF4-FFF2-40B4-BE49-F238E27FC236}">
                <a16:creationId xmlns:a16="http://schemas.microsoft.com/office/drawing/2014/main" id="{E68EA940-4BAB-848E-68B8-CE575337948B}"/>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5" name="Picture 4">
            <a:extLst>
              <a:ext uri="{FF2B5EF4-FFF2-40B4-BE49-F238E27FC236}">
                <a16:creationId xmlns:a16="http://schemas.microsoft.com/office/drawing/2014/main" id="{567D0F9E-EB97-8FA4-BC78-0C086AB8D3EF}"/>
              </a:ext>
            </a:extLst>
          </p:cNvPr>
          <p:cNvPicPr>
            <a:picLocks noChangeAspect="1"/>
          </p:cNvPicPr>
          <p:nvPr/>
        </p:nvPicPr>
        <p:blipFill>
          <a:blip r:embed="rId2"/>
          <a:stretch>
            <a:fillRect/>
          </a:stretch>
        </p:blipFill>
        <p:spPr>
          <a:xfrm>
            <a:off x="604520" y="2171524"/>
            <a:ext cx="7697274" cy="2514951"/>
          </a:xfrm>
          <a:prstGeom prst="rect">
            <a:avLst/>
          </a:prstGeom>
          <a:ln>
            <a:solidFill>
              <a:schemeClr val="tx1"/>
            </a:solidFill>
          </a:ln>
        </p:spPr>
      </p:pic>
      <p:sp>
        <p:nvSpPr>
          <p:cNvPr id="6" name="TextBox 5">
            <a:extLst>
              <a:ext uri="{FF2B5EF4-FFF2-40B4-BE49-F238E27FC236}">
                <a16:creationId xmlns:a16="http://schemas.microsoft.com/office/drawing/2014/main" id="{7B68A11A-9154-2696-AC43-E6D563EF01B1}"/>
              </a:ext>
            </a:extLst>
          </p:cNvPr>
          <p:cNvSpPr txBox="1"/>
          <p:nvPr/>
        </p:nvSpPr>
        <p:spPr>
          <a:xfrm>
            <a:off x="604520" y="1230572"/>
            <a:ext cx="7911781" cy="830997"/>
          </a:xfrm>
          <a:prstGeom prst="rect">
            <a:avLst/>
          </a:prstGeom>
          <a:noFill/>
        </p:spPr>
        <p:txBody>
          <a:bodyPr wrap="none" rtlCol="0">
            <a:spAutoFit/>
          </a:bodyPr>
          <a:lstStyle/>
          <a:p>
            <a:r>
              <a:rPr lang="en-US" dirty="0"/>
              <a:t>Here we see the conditional distribution of </a:t>
            </a:r>
            <a:r>
              <a:rPr lang="en-US" dirty="0" err="1"/>
              <a:t>x_t</a:t>
            </a:r>
            <a:r>
              <a:rPr lang="en-US" dirty="0"/>
              <a:t>. The P term is a</a:t>
            </a:r>
          </a:p>
          <a:p>
            <a:r>
              <a:rPr lang="en-US" dirty="0"/>
              <a:t>Covariance matrix. Its multi-variate Gaussian! </a:t>
            </a:r>
          </a:p>
        </p:txBody>
      </p:sp>
    </p:spTree>
    <p:extLst>
      <p:ext uri="{BB962C8B-B14F-4D97-AF65-F5344CB8AC3E}">
        <p14:creationId xmlns:p14="http://schemas.microsoft.com/office/powerpoint/2010/main" val="192128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AA234-5A77-DA64-EF93-7F7F063960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5B0588-9AA4-ACFA-C9EF-C036C4FC0359}"/>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Kalman Filter mathematically</a:t>
            </a:r>
            <a:endParaRPr lang="en-US" sz="2200" dirty="0">
              <a:solidFill>
                <a:srgbClr val="C8102E"/>
              </a:solidFill>
            </a:endParaRPr>
          </a:p>
        </p:txBody>
      </p:sp>
      <p:cxnSp>
        <p:nvCxnSpPr>
          <p:cNvPr id="3" name="Straight Connector 2">
            <a:extLst>
              <a:ext uri="{FF2B5EF4-FFF2-40B4-BE49-F238E27FC236}">
                <a16:creationId xmlns:a16="http://schemas.microsoft.com/office/drawing/2014/main" id="{BCA9FD82-4EB8-3474-09B0-67048AA54F55}"/>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6" name="TextBox 5">
            <a:extLst>
              <a:ext uri="{FF2B5EF4-FFF2-40B4-BE49-F238E27FC236}">
                <a16:creationId xmlns:a16="http://schemas.microsoft.com/office/drawing/2014/main" id="{255CA4E0-8E8D-6130-F8EF-7B490651590B}"/>
              </a:ext>
            </a:extLst>
          </p:cNvPr>
          <p:cNvSpPr txBox="1"/>
          <p:nvPr/>
        </p:nvSpPr>
        <p:spPr>
          <a:xfrm>
            <a:off x="604520" y="1230572"/>
            <a:ext cx="8317533" cy="830997"/>
          </a:xfrm>
          <a:prstGeom prst="rect">
            <a:avLst/>
          </a:prstGeom>
          <a:noFill/>
        </p:spPr>
        <p:txBody>
          <a:bodyPr wrap="none" rtlCol="0">
            <a:spAutoFit/>
          </a:bodyPr>
          <a:lstStyle/>
          <a:p>
            <a:r>
              <a:rPr lang="en-US" dirty="0"/>
              <a:t>More important stuff showing that the only data-dependency is on</a:t>
            </a:r>
          </a:p>
          <a:p>
            <a:r>
              <a:rPr lang="en-US" dirty="0"/>
              <a:t>The previous term</a:t>
            </a:r>
          </a:p>
        </p:txBody>
      </p:sp>
      <p:pic>
        <p:nvPicPr>
          <p:cNvPr id="7" name="Picture 6">
            <a:extLst>
              <a:ext uri="{FF2B5EF4-FFF2-40B4-BE49-F238E27FC236}">
                <a16:creationId xmlns:a16="http://schemas.microsoft.com/office/drawing/2014/main" id="{861C89DA-9E80-7015-5B4D-53FAFC0AD56E}"/>
              </a:ext>
            </a:extLst>
          </p:cNvPr>
          <p:cNvPicPr>
            <a:picLocks noChangeAspect="1"/>
          </p:cNvPicPr>
          <p:nvPr/>
        </p:nvPicPr>
        <p:blipFill>
          <a:blip r:embed="rId2"/>
          <a:stretch>
            <a:fillRect/>
          </a:stretch>
        </p:blipFill>
        <p:spPr>
          <a:xfrm>
            <a:off x="685800" y="2168190"/>
            <a:ext cx="6932511" cy="3753171"/>
          </a:xfrm>
          <a:prstGeom prst="rect">
            <a:avLst/>
          </a:prstGeom>
          <a:ln>
            <a:solidFill>
              <a:schemeClr val="tx1"/>
            </a:solidFill>
          </a:ln>
        </p:spPr>
      </p:pic>
    </p:spTree>
    <p:extLst>
      <p:ext uri="{BB962C8B-B14F-4D97-AF65-F5344CB8AC3E}">
        <p14:creationId xmlns:p14="http://schemas.microsoft.com/office/powerpoint/2010/main" val="179269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4520" y="1504950"/>
            <a:ext cx="2295765" cy="1985159"/>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Name Here</a:t>
            </a:r>
          </a:p>
          <a:p>
            <a:pPr>
              <a:spcBef>
                <a:spcPts val="0"/>
              </a:spcBef>
            </a:pPr>
            <a:r>
              <a:rPr lang="en-US" sz="1400" i="1" dirty="0">
                <a:solidFill>
                  <a:srgbClr val="ACA39A"/>
                </a:solidFill>
                <a:latin typeface="Univers 55 Oblique" charset="0"/>
                <a:ea typeface="Univers 55 Oblique" charset="0"/>
                <a:cs typeface="Univers 55 Oblique" charset="0"/>
              </a:rPr>
              <a:t>Title Here</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email@iastate.edu</a:t>
            </a: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(515)-294-1234</a:t>
            </a: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www.unit.iastate.edu</a:t>
            </a:r>
            <a:endParaRPr lang="en-US" sz="1600" dirty="0">
              <a:solidFill>
                <a:srgbClr val="7A6E67"/>
              </a:solidFill>
              <a:latin typeface="Univers 47 Condensed Light" charset="0"/>
              <a:ea typeface="Univers 47 Condensed Light" charset="0"/>
              <a:cs typeface="Univers 47 Condensed Light" charset="0"/>
            </a:endParaRPr>
          </a:p>
        </p:txBody>
      </p:sp>
      <p:sp>
        <p:nvSpPr>
          <p:cNvPr id="3" name="TextBox 2"/>
          <p:cNvSpPr txBox="1"/>
          <p:nvPr/>
        </p:nvSpPr>
        <p:spPr>
          <a:xfrm>
            <a:off x="604519" y="583109"/>
            <a:ext cx="7750185" cy="800219"/>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Contact Us</a:t>
            </a:r>
          </a:p>
          <a:p>
            <a:endParaRPr lang="en-US" dirty="0"/>
          </a:p>
        </p:txBody>
      </p:sp>
      <p:cxnSp>
        <p:nvCxnSpPr>
          <p:cNvPr id="4" name="Straight Connector 3"/>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5" name="TextBox 4"/>
          <p:cNvSpPr txBox="1"/>
          <p:nvPr/>
        </p:nvSpPr>
        <p:spPr>
          <a:xfrm>
            <a:off x="3396850" y="1504950"/>
            <a:ext cx="2354417" cy="1985159"/>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Name Here</a:t>
            </a:r>
          </a:p>
          <a:p>
            <a:pPr>
              <a:spcBef>
                <a:spcPts val="0"/>
              </a:spcBef>
            </a:pPr>
            <a:r>
              <a:rPr lang="en-US" sz="1400" i="1" dirty="0">
                <a:solidFill>
                  <a:srgbClr val="ACA39A"/>
                </a:solidFill>
                <a:latin typeface="Univers 55 Oblique" charset="0"/>
                <a:ea typeface="Univers 55 Oblique" charset="0"/>
                <a:cs typeface="Univers 55 Oblique" charset="0"/>
              </a:rPr>
              <a:t>Title Here</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email@iastate.edu</a:t>
            </a: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(515)-239-1234</a:t>
            </a: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www.unit.iastate.edu</a:t>
            </a:r>
            <a:endParaRPr lang="en-US" sz="1600" dirty="0">
              <a:solidFill>
                <a:srgbClr val="7A6E67"/>
              </a:solidFill>
              <a:latin typeface="Univers 47 Condensed Light" charset="0"/>
              <a:ea typeface="Univers 47 Condensed Light" charset="0"/>
              <a:cs typeface="Univers 47 Condensed Light" charset="0"/>
            </a:endParaRPr>
          </a:p>
        </p:txBody>
      </p:sp>
      <p:sp>
        <p:nvSpPr>
          <p:cNvPr id="6" name="TextBox 5"/>
          <p:cNvSpPr txBox="1"/>
          <p:nvPr/>
        </p:nvSpPr>
        <p:spPr>
          <a:xfrm>
            <a:off x="6245773" y="1504950"/>
            <a:ext cx="2060027" cy="1985159"/>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Name Here</a:t>
            </a:r>
          </a:p>
          <a:p>
            <a:pPr>
              <a:spcBef>
                <a:spcPts val="0"/>
              </a:spcBef>
            </a:pPr>
            <a:r>
              <a:rPr lang="en-US" sz="1400" i="1" dirty="0">
                <a:solidFill>
                  <a:srgbClr val="ACA39A"/>
                </a:solidFill>
                <a:latin typeface="Univers 55 Oblique" charset="0"/>
                <a:ea typeface="Univers 55 Oblique" charset="0"/>
                <a:cs typeface="Univers 55 Oblique" charset="0"/>
              </a:rPr>
              <a:t>Title Here</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email@iastate.edu</a:t>
            </a: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(515)-239-1234</a:t>
            </a: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www.unit.iastate.edu</a:t>
            </a:r>
            <a:endParaRPr lang="en-US" sz="1600" dirty="0">
              <a:solidFill>
                <a:srgbClr val="7A6E67"/>
              </a:solidFill>
              <a:latin typeface="Univers 47 Condensed Light" charset="0"/>
              <a:ea typeface="Univers 47 Condensed Light" charset="0"/>
              <a:cs typeface="Univers 47 Condensed Light" charset="0"/>
            </a:endParaRPr>
          </a:p>
        </p:txBody>
      </p:sp>
      <p:cxnSp>
        <p:nvCxnSpPr>
          <p:cNvPr id="7" name="Straight Connector 6"/>
          <p:cNvCxnSpPr/>
          <p:nvPr/>
        </p:nvCxnSpPr>
        <p:spPr bwMode="auto">
          <a:xfrm>
            <a:off x="3124200" y="1123950"/>
            <a:ext cx="2059" cy="3048000"/>
          </a:xfrm>
          <a:prstGeom prst="line">
            <a:avLst/>
          </a:prstGeom>
          <a:solidFill>
            <a:schemeClr val="accent1"/>
          </a:solidFill>
          <a:ln w="12700" cap="flat" cmpd="sng" algn="ctr">
            <a:solidFill>
              <a:srgbClr val="F1BE48"/>
            </a:solidFill>
            <a:prstDash val="solid"/>
            <a:round/>
            <a:headEnd type="none" w="med" len="med"/>
            <a:tailEnd type="none" w="med" len="med"/>
          </a:ln>
          <a:effectLst/>
        </p:spPr>
      </p:cxnSp>
      <p:cxnSp>
        <p:nvCxnSpPr>
          <p:cNvPr id="8" name="Straight Connector 7"/>
          <p:cNvCxnSpPr/>
          <p:nvPr/>
        </p:nvCxnSpPr>
        <p:spPr bwMode="auto">
          <a:xfrm>
            <a:off x="5975182" y="1123950"/>
            <a:ext cx="2059" cy="304800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1714277792"/>
      </p:ext>
    </p:extLst>
  </p:cSld>
  <p:clrMapOvr>
    <a:masterClrMapping/>
  </p:clrMapOvr>
</p:sld>
</file>

<file path=ppt/theme/theme1.xml><?xml version="1.0" encoding="utf-8"?>
<a:theme xmlns:a="http://schemas.openxmlformats.org/drawingml/2006/main" name="PowerPoint">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Univers 67 CondensedBold"/>
        <a:ea typeface=""/>
        <a:cs typeface=""/>
      </a:majorFont>
      <a:minorFont>
        <a:latin typeface="Univers 67 Condensed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WithNumbers_2A" id="{26A4DF8B-2ED5-1147-8FA3-787E008C2CE2}" vid="{8D23465F-27DC-C24E-BABD-4541439876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Presentation-WithNumbers_2A</Template>
  <TotalTime>753</TotalTime>
  <Words>493</Words>
  <Application>Microsoft Office PowerPoint</Application>
  <PresentationFormat>On-screen Show (4:3)</PresentationFormat>
  <Paragraphs>58</Paragraphs>
  <Slides>12</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Arial</vt:lpstr>
      <vt:lpstr>Calibri</vt:lpstr>
      <vt:lpstr>ITC Berkeley Oldstyle Book</vt:lpstr>
      <vt:lpstr>ITC Berkeley Oldstyle Medium</vt:lpstr>
      <vt:lpstr>Times</vt:lpstr>
      <vt:lpstr>Univers 47 Condensed Light</vt:lpstr>
      <vt:lpstr>Univers 55 Oblique</vt:lpstr>
      <vt:lpstr>Univers 55 Roman</vt:lpstr>
      <vt:lpstr>Univers 57 Condensed</vt:lpstr>
      <vt:lpstr>Univers 67 CondensedBold</vt:lpstr>
      <vt:lpstr>Univers 75 Black</vt:lpstr>
      <vt:lpstr>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Craig orman</dc:creator>
  <cp:lastModifiedBy>Craig orman</cp:lastModifiedBy>
  <cp:revision>6</cp:revision>
  <dcterms:created xsi:type="dcterms:W3CDTF">2025-10-06T16:07:11Z</dcterms:created>
  <dcterms:modified xsi:type="dcterms:W3CDTF">2025-10-09T18:36:10Z</dcterms:modified>
</cp:coreProperties>
</file>